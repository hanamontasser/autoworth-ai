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R²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Random Forest</c:v>
                  </c:pt>
                  <c:pt idx="1">
                    <c:v>XGBoost</c:v>
                  </c:pt>
                  <c:pt idx="2">
                    <c:v>Decision Tree</c:v>
                  </c:pt>
                  <c:pt idx="3">
                    <c:v>Gradient Boosting</c:v>
                  </c:pt>
                  <c:pt idx="4">
                    <c:v>Linear Regression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0.9616</c:v>
                </c:pt>
                <c:pt idx="1">
                  <c:v>0.9589</c:v>
                </c:pt>
                <c:pt idx="2">
                  <c:v>0.9341</c:v>
                </c:pt>
                <c:pt idx="3">
                  <c:v>0.9038</c:v>
                </c:pt>
                <c:pt idx="4">
                  <c:v>0.8792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100" u="none">
                  <a:solidFill>
                    <a:srgbClr val="2B2B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R²</a:t>
                </a:r>
              </a:p>
            </c:rich>
          </c:tx>
          <c:layout/>
          <c:overlay val="0"/>
        </c:title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B2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🚗 AutoWorth AI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7490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Car Price &amp; Deal Advisor  —  Final ML Project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17320"/>
            <a:ext cx="106984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car buyers often can't tell whether a seller's asking price is fair.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predict a car's expected market price from its specifications.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compare that prediction to the seller's price to answer: is this a good deal?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17320"/>
            <a:ext cx="106984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regression model estimating the fair market price of a used UK car.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predicted price to the seller's asking price.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the offer into a Deal Rating, from Great Deal to Overpriced.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the model through a working Streamlit application.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99516" y="192024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CADC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99516" y="21945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98,402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82396" y="32918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rows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2836" y="192024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402836" y="21945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585716" y="32918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06156" y="192024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106156" y="21945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193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289036" y="32918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models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84632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100,000 UK Used Car Dataset (Kaggle) — Audi, BMW, Ford, Hyundai, Mercedes, Skoda, Toyota, Vauxhall, Volkswagen. Target: price (regression).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17320"/>
            <a:ext cx="106984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manufacturer file inspected individually before merging (shape, dtypes, duplicates, cardinality).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 column-naming inconsistency: Hyundai's tax column was named differently — fixed before merge.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explicit missing values at first glance — but disguised missing values (e.g. engineSize = 0) needed separate investigation.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17320"/>
            <a:ext cx="106984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3 rows with historically impossible year/model combinations (e.g. a 1970 Zafira, launched in 1999).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Treated disguised missing values (engineSize/mpg/tax anomalies) via group-wise median imputation.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and relabeled 32 "A Class" listings that were actually AMG performance variants.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1,478 exact-duplicate rows.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Investigated price/mileage outliers — kept them, since they matched genuine luxury/SUV models, not errors.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17320"/>
            <a:ext cx="106984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is right-skewed: most cars are economical, with a long tail of luxury models.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engineSize (r = 0.65) and year (r = 0.50) are the strongest numeric correlates of price.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and mileage are strongly negatively correlated (r = -0.74).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transmission has roughly half the median price of Semi-Automatic.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10698480" cy="1828800"/>
        </p:xfrm>
        <a:graphic>
          <a:graphicData uri="http://schemas.openxmlformats.org/drawingml/2006/table">
            <a:tbl>
              <a:tblPr/>
              <a:tblGrid>
                <a:gridCol w="3566160"/>
                <a:gridCol w="3566160"/>
                <a:gridCol w="3566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Rationale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Car_Age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2020 - 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at time of listing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Mileage_Per_Year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mileage / max(Car_Age, 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 intensity, independent of raw 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High_Performance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if engineSize &gt;= 3.0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Flags a distinct high-value segment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31520" y="36118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High_Performance cars averaged £35,528 vs. £15,537 for others — validated with evidence, not assumed.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Categorical Encoding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10698480" cy="1828800"/>
        </p:xfrm>
        <a:graphic>
          <a:graphicData uri="http://schemas.openxmlformats.org/drawingml/2006/table">
            <a:tbl>
              <a:tblPr/>
              <a:tblGrid>
                <a:gridCol w="3566160"/>
                <a:gridCol w="3566160"/>
                <a:gridCol w="3566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R²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One-Hot Encoding (chosen)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Encoding (K-Fold safe)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 Encoding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31520" y="36118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with a fixed Linear Regression baseline. One-Hot won despite far more columns — preserving each category individually captured more signal.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&amp; Leakage Control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17320"/>
            <a:ext cx="106984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 70% train / 15% validation / 15% test before any fitting.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transformations (imputation, encoding, scaling) fit on training data only, then applied to validation/test.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Encoding used K-Fold-safe computation to prevent target leakage.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was touched exactly once, after the final model was selected.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Models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17320"/>
            <a:ext cx="106984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— simple linear baseline.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Regressor — single tree, prone to overfitting.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Regressor — ensemble of trees, reduces variance.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Regressor — sequential error-correcting trees.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— regularized, high-performance gradient boosting.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17320"/>
            <a:ext cx="106984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— proportion of price variance explained by the model.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(Mean Absolute Error) — average prediction error, in £.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(Root Mean Squared Error) — like MAE, but penalizes large errors more.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vs. validation gap — used throughout to detect overfitting.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 — Validation R²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731520" y="1371600"/>
          <a:ext cx="106984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31520" y="5623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MAE £1,174 · XGBoost: MAE £1,317 · Decision Tree: MAE £1,475 · Gradient Boosting: MAE £2,103 · Linear Regression: MAE £2,214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Overfitting Analysis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10698480" cy="2743200"/>
        </p:xfrm>
        <a:graphic>
          <a:graphicData uri="http://schemas.openxmlformats.org/drawingml/2006/table">
            <a:tbl>
              <a:tblPr/>
              <a:tblGrid>
                <a:gridCol w="2674620"/>
                <a:gridCol w="2674620"/>
                <a:gridCol w="2674620"/>
                <a:gridCol w="26746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R²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R²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31520" y="45262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Decision Tree overfits severely. Ensembling (Random Forest) shrinks the gap; XGBoost shrinks it further while staying near top accuracy.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 Tuning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17320"/>
            <a:ext cx="106984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 applied to Random Forest (n_estimators, max_depth, min_samples_leaf).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found: n_estimators=100, max_depth=20, min_samples_leaf=1.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gap reduced (0.0317 → 0.0240), but validation R² slightly decreased (0.9616 → 0.9601).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honestly as a marginal trade-off, not a forced improvement.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Model Selection: XGBoost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17320"/>
            <a:ext cx="106984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chosen for the single highest validation R² — Random Forest was marginally higher.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for its much smaller train-validation gap (0.0051 vs. 0.0317), indicating stronger generalization.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difference between candidates was small (~£143 MAE) — stability was the deciding factor.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Test Set Evaluation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99516" y="192024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CADC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99516" y="21945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0.9607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82396" y="32918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02836" y="192024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402836" y="21945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£1,313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585716" y="32918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06156" y="192024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CADCF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106156" y="21945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£1,983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289036" y="32918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84632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once, after model selection. Nearly identical to validation performance — supporting that no data leakage occurred during preprocessing.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Importance (XGBoost)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17320"/>
            <a:ext cx="106984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features: transmission_Manual (0.217), engineSize (0.058).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model_A Class AMG ranks 6th — direct validation of the earlier AMG relabeling fix.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 (Car_Age, Mileage_Per_Year, High_Performance) showed near-zero importance.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Reason: each is a direct derivative of a raw column XGBoost already uses (year, engineSize) — not a flawed feature, just redundant for this model.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Analysis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17320"/>
            <a:ext cx="106984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errors cluster around premium brands — Audi and Mercedes.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extreme cases: very old luxury cars (e.g. a 1999/2002 Mercedes S Class), overestimated by the model.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cause: too few training examples combining "old" with "premium brand."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run in both directions — general higher variance in the luxury segment, not a consistent bias.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Deal Advisor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10698480" cy="2743200"/>
        </p:xfrm>
        <a:graphic>
          <a:graphicData uri="http://schemas.openxmlformats.org/drawingml/2006/table">
            <a:tbl>
              <a:tblPr/>
              <a:tblGrid>
                <a:gridCol w="5349240"/>
                <a:gridCol w="5349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 Deal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than 10% cheaper than predicted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Deal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5-10% cheaper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 Price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±5%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Slightly Overpriced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5-10% more expensive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Overpriced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than 10% more expensive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31520" y="45262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Rating is only as reliable as the underlying prediction — treated with extra caution for luxury brands.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Application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17320"/>
            <a:ext cx="106984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the exact trained encoder and XGBoost model — no retraining in the app.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car details and a seller's asking price.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returns the estimated market price, the difference, and the Deal Rating.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preprocessing pipeline as training, guaranteeing consistent predictions.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Conclusions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7490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≈ 0.96 on unseen test data  ·  MAE ≈ £1,313  ·  Evidence-based decisions throughout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2026-09-29T18:36:45Z</dcterms:created>
  <dcterms:modified xsi:type="dcterms:W3CDTF">2026-09-29T18:36:45Z</dcterms:modified>
</cp:coreProperties>
</file>